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Jun</c:v>
                  </c:pt>
                  <c:pt idx="1">
                    <c:v>Jul</c:v>
                  </c:pt>
                  <c:pt idx="2">
                    <c:v>Aoû</c:v>
                  </c:pt>
                  <c:pt idx="3">
                    <c:v>Sep</c:v>
                  </c:pt>
                  <c:pt idx="4">
                    <c:v>Oct</c:v>
                  </c:pt>
                  <c:pt idx="5">
                    <c:v>Nov</c:v>
                  </c:pt>
                  <c:pt idx="6">
                    <c:v>Déc</c:v>
                  </c:pt>
                  <c:pt idx="7">
                    <c:v>Jan</c:v>
                  </c:pt>
                  <c:pt idx="8">
                    <c:v>Fév</c:v>
                  </c:pt>
                  <c:pt idx="9">
                    <c:v>Mar</c:v>
                  </c:pt>
                  <c:pt idx="10">
                    <c:v>Avr</c:v>
                  </c:pt>
                  <c:pt idx="11">
                    <c:v>Mai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-200000</c:v>
                </c:pt>
                <c:pt idx="1">
                  <c:v>850000</c:v>
                </c:pt>
                <c:pt idx="2">
                  <c:v>870000</c:v>
                </c:pt>
                <c:pt idx="3">
                  <c:v>845000</c:v>
                </c:pt>
                <c:pt idx="4">
                  <c:v>870000</c:v>
                </c:pt>
                <c:pt idx="5">
                  <c:v>845000</c:v>
                </c:pt>
                <c:pt idx="6">
                  <c:v>870000</c:v>
                </c:pt>
                <c:pt idx="7">
                  <c:v>870000</c:v>
                </c:pt>
                <c:pt idx="8">
                  <c:v>790000</c:v>
                </c:pt>
                <c:pt idx="9">
                  <c:v>840000</c:v>
                </c:pt>
                <c:pt idx="10">
                  <c:v>845000</c:v>
                </c:pt>
                <c:pt idx="11">
                  <c:v>840000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Réel</c:v>
                </c:pt>
              </c:strCache>
            </c:strRef>
          </c:tx>
          <c:spPr>
            <a:solidFill>
              <a:srgbClr val="10B981"/>
            </a:solidFill>
            <a:ln w="3175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Jun</c:v>
                  </c:pt>
                  <c:pt idx="1">
                    <c:v>Jul</c:v>
                  </c:pt>
                  <c:pt idx="2">
                    <c:v>Aoû</c:v>
                  </c:pt>
                  <c:pt idx="3">
                    <c:v>Sep</c:v>
                  </c:pt>
                  <c:pt idx="4">
                    <c:v>Oct</c:v>
                  </c:pt>
                  <c:pt idx="5">
                    <c:v>Nov</c:v>
                  </c:pt>
                  <c:pt idx="6">
                    <c:v>Déc</c:v>
                  </c:pt>
                  <c:pt idx="7">
                    <c:v>Jan</c:v>
                  </c:pt>
                  <c:pt idx="8">
                    <c:v>Fév</c:v>
                  </c:pt>
                  <c:pt idx="9">
                    <c:v>Mar</c:v>
                  </c:pt>
                  <c:pt idx="10">
                    <c:v>Avr</c:v>
                  </c:pt>
                  <c:pt idx="11">
                    <c:v>Mai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-180000</c:v>
                </c:pt>
                <c:pt idx="1">
                  <c:v>870000</c:v>
                </c:pt>
                <c:pt idx="2">
                  <c:v>860000</c:v>
                </c:pt>
                <c:pt idx="3">
                  <c:v>855000</c:v>
                </c:pt>
                <c:pt idx="4">
                  <c:v>880000</c:v>
                </c:pt>
                <c:pt idx="5">
                  <c:v>855000</c:v>
                </c:pt>
                <c:pt idx="6">
                  <c:v>880000</c:v>
                </c:pt>
                <c:pt idx="7">
                  <c:v>880000</c:v>
                </c:pt>
                <c:pt idx="8">
                  <c:v>800000</c:v>
                </c:pt>
                <c:pt idx="9">
                  <c:v>845000</c:v>
                </c:pt>
                <c:pt idx="10">
                  <c:v>850000</c:v>
                </c:pt>
                <c:pt idx="11">
                  <c:v>845000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3657600" cy="36576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FRAMPILOT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agricole intelligent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récolte au cashflow, en un seul outil.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4297680"/>
            <a:ext cx="45720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480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opérationnelle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culture · Chef station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BENHALIMA · Maroc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défi quotidien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culture &amp; chef station : trop de papier, trop d'Excel.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35661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011680"/>
            <a:ext cx="91440" cy="3840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📋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multiple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Récoltes notées sur papier puis ressaisies sur Excel. Risque d'erreurs et de doublons.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2011680"/>
            <a:ext cx="35661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2011680"/>
            <a:ext cx="91440" cy="3840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⚖️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75488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Réconciliation manuelle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39319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Bordereaux station vs envois : 5 à 10 heures par semaine à recouper les chiffres.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2011680"/>
            <a:ext cx="35661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011680"/>
            <a:ext cx="91440" cy="3840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📊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59536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en retard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95360" y="39319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 d'exploitation n'arrive qu'en fin de campagne. Trop tard pour réagir.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6144768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Réalité observée 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à 10 heures par semaine perdues en re-saisie et vérifications croisées.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BENHALIMA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418320" y="6537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FramPilot · 2/19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approche : 3 piliers, 1 outil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cycle agricole, du sol à la facture, dans une seule application.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37360"/>
            <a:ext cx="356616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37360"/>
            <a:ext cx="3566160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745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</a:rPr>
              <a:t>🌿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82880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PILIER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de culture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récolte multicanal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lot temps réel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terrain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80560" y="1737360"/>
            <a:ext cx="356616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737360"/>
            <a:ext cx="3566160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8745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</a:rPr>
              <a:t>💼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66928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66928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PILIER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310896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station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intelligent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Bordereaux hebdo / mensuel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Auto-facturation client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21040" y="1737360"/>
            <a:ext cx="356616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1737360"/>
            <a:ext cx="3566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0" y="18745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</a:rPr>
              <a:t>📊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950976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0976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PILIER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310896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Réel mensuel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d'exploitation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Amortissements auto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CEO IA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BENHALIMA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418320" y="6537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FramPilot · 3/19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-914400"/>
            <a:ext cx="5486400" cy="54864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PILIER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Production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plantation à la récolte, le terrain piloté en temps réel.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 ·  Récolte  ·  Cycle de vie du lot  ·  Alertes terrain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de culture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campagne, plusieurs serres, plusieurs variétés — orchestré en un seul écran.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37360"/>
            <a:ext cx="50292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37360"/>
            <a:ext cx="5029200" cy="54864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HIÉRARCHIE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468880"/>
            <a:ext cx="164592" cy="502920"/>
          </a:xfrm>
          <a:prstGeom prst="rect">
            <a:avLst/>
          </a:prstGeom>
          <a:solidFill>
            <a:srgbClr val="1A3A2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entité juridique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88720" y="3154680"/>
            <a:ext cx="164592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Ajana, Saïs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54480" y="3840480"/>
            <a:ext cx="164592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2880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surface m²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20240" y="4526280"/>
            <a:ext cx="164592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2194560" y="4526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1945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variété × cycle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5212080"/>
            <a:ext cx="164592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5212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Récolte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56032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quotidienne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1737360"/>
            <a:ext cx="2788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📅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12648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clés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Plantation, début/fin récolte, fin campagne — toutes traçables.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69680" y="1737360"/>
            <a:ext cx="2788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56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905256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production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05256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kg/m² cible par variété + budget MAD/m² associé.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0" y="4069080"/>
            <a:ext cx="2788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6126480" y="5029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Multi-campagnes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26480" y="5394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2024-25 vs 2025-26 d'un clic.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869680" y="4069080"/>
            <a:ext cx="2788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5256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9052560" y="5029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live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052560" y="5394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· Plantation · Récolte · Clôturée.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BENHALIMA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418320" y="6537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FramPilot · 5/19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une récolte : 3 canaux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terrain au système, en quelques secondes — chacun son outil préféré.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37360"/>
            <a:ext cx="35661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37360"/>
            <a:ext cx="3566160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</a:rPr>
              <a:t>💬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82880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mobile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Multilingue : FR · AR · Darija (arabe)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montant en kg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immédiate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le terrain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5486400"/>
            <a:ext cx="3017520" cy="411480"/>
          </a:xfrm>
          <a:prstGeom prst="rect">
            <a:avLst/>
          </a:prstGeom>
          <a:solidFill>
            <a:srgbClr val="3B82F6">
              <a:alpha val="12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552297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كتبت في تيليغرام بالدارجة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1737360"/>
            <a:ext cx="35661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1737360"/>
            <a:ext cx="3566160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</a:rPr>
              <a:t>🖥️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566928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6928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Saisie batch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20040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visuel par jour/semaine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 rapide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campagne / serre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responsables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5486400"/>
            <a:ext cx="3017520" cy="411480"/>
          </a:xfrm>
          <a:prstGeom prst="rect">
            <a:avLst/>
          </a:prstGeom>
          <a:solidFill>
            <a:srgbClr val="10B981">
              <a:alpha val="1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552297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Multi-récoltes en un clic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21040" y="1737360"/>
            <a:ext cx="35661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21040" y="1737360"/>
            <a:ext cx="3566160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</a:rPr>
              <a:t>📊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950976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Excel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0976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Historique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320040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existant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automatique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Reprise des campagnes passées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 initial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595360" y="5486400"/>
            <a:ext cx="3017520" cy="411480"/>
          </a:xfrm>
          <a:prstGeom prst="rect">
            <a:avLst/>
          </a:prstGeom>
          <a:solidFill>
            <a:srgbClr val="8B5CF6">
              <a:alpha val="12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552297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legacy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217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unifiées : tout converge vers la même base — pas de re-saisie.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BENHALIMA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418320" y="6537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FramPilot · 6/19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 de vie d'un lot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sol jusqu'à la facture — chaque étape traçable, sans rien perdre.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891540" y="2011680"/>
            <a:ext cx="1005840" cy="10058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891540" y="20574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🌿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531620" y="187452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16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Récolte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" y="3611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quantité brute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63140" y="251460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66060" y="2011680"/>
            <a:ext cx="1005840" cy="1005840"/>
          </a:xfrm>
          <a:prstGeom prst="ellipse">
            <a:avLst/>
          </a:prstGeom>
          <a:solidFill>
            <a:srgbClr val="65A30D"/>
          </a:solidFill>
          <a:ln/>
        </p:spPr>
      </p:sp>
      <p:sp>
        <p:nvSpPr>
          <p:cNvPr id="14" name="Text 12"/>
          <p:cNvSpPr/>
          <p:nvPr/>
        </p:nvSpPr>
        <p:spPr>
          <a:xfrm>
            <a:off x="2766060" y="20574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🚚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3406140" y="187452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5A30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61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5458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envoyer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54580" y="3611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 de chargement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37660" y="251460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640580" y="2011680"/>
            <a:ext cx="1005840" cy="10058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640580" y="20574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5280660" y="187452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066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2910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Envoyé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29100" y="3611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station, en attente tri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12180" y="251460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515100" y="2011680"/>
            <a:ext cx="1005840" cy="10058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6515100" y="20574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🔬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7155180" y="187452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51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0362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Trié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03620" y="3611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Freinte / écart appliqués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86700" y="251460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389620" y="2011680"/>
            <a:ext cx="1005840" cy="10058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8389620" y="20574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36" name="Shape 34"/>
          <p:cNvSpPr/>
          <p:nvPr/>
        </p:nvSpPr>
        <p:spPr>
          <a:xfrm>
            <a:off x="9029700" y="187452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297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7814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Tarifé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978140" y="3611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MAD/kg confirmé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761220" y="251460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264140" y="2011680"/>
            <a:ext cx="1005840" cy="10058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2" name="Text 40"/>
          <p:cNvSpPr/>
          <p:nvPr/>
        </p:nvSpPr>
        <p:spPr>
          <a:xfrm>
            <a:off x="10264140" y="20574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43" name="Shape 41"/>
          <p:cNvSpPr/>
          <p:nvPr/>
        </p:nvSpPr>
        <p:spPr>
          <a:xfrm>
            <a:off x="10904220" y="187452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9042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85266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Facturé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852660" y="3611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 dans bordereau ou direct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" y="4846320"/>
            <a:ext cx="10881360" cy="1371600"/>
          </a:xfrm>
          <a:prstGeom prst="rect">
            <a:avLst/>
          </a:prstGeom>
          <a:solidFill>
            <a:srgbClr val="ECFDF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📍</a:t>
            </a:r>
            <a:endParaRPr lang="en-US" sz="3200" dirty="0"/>
          </a:p>
        </p:txBody>
      </p:sp>
      <p:sp>
        <p:nvSpPr>
          <p:cNvPr id="49" name="Text 47"/>
          <p:cNvSpPr/>
          <p:nvPr/>
        </p:nvSpPr>
        <p:spPr>
          <a:xfrm>
            <a:off x="1463040" y="50292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visible en temps réel pour chaque lot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culture, chef station et direction voient le même statut, en live. Plus de questions du type ‘où en est ce lot ?'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BENHALIMA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418320" y="6537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FramPilot · 7/19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-9144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PILIER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Commerce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tri à la facture, sans Excel — bordereaux et factures par marché.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station  ·  Tri  ·  Bordereaux  ·  Factures par client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463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tri à la facture, sans Excel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automatisé : la station communique, le système calcule, la facture sort.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10881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28800"/>
            <a:ext cx="91440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947672"/>
            <a:ext cx="457200" cy="4572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1920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Envoi station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Pesage brut + référence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0" y="1993392"/>
            <a:ext cx="1737360" cy="365760"/>
          </a:xfrm>
          <a:prstGeom prst="rect">
            <a:avLst/>
          </a:prstGeom>
          <a:solidFill>
            <a:srgbClr val="F5F3FF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993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10881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606040"/>
            <a:ext cx="91440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2724912"/>
            <a:ext cx="457200" cy="4572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2697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Tri par la station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2971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Freinte + écart + qty acceptée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0" y="2770632"/>
            <a:ext cx="1737360" cy="365760"/>
          </a:xfrm>
          <a:prstGeom prst="rect">
            <a:avLst/>
          </a:prstGeom>
          <a:solidFill>
            <a:srgbClr val="F5F3FF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27706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J+1 à J+3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383280"/>
            <a:ext cx="10881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383280"/>
            <a:ext cx="91440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3502152"/>
            <a:ext cx="457200" cy="4572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 Bordereau station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Hebdomadaire (Export) ou mensuel (Local)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01200" y="3547872"/>
            <a:ext cx="1737360" cy="365760"/>
          </a:xfrm>
          <a:prstGeom prst="rect">
            <a:avLst/>
          </a:prstGeom>
          <a:solidFill>
            <a:srgbClr val="F5F3FF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0" y="3547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J+7 / fin de mois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4160520"/>
            <a:ext cx="10881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160520"/>
            <a:ext cx="91440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Shape 30"/>
          <p:cNvSpPr/>
          <p:nvPr/>
        </p:nvSpPr>
        <p:spPr>
          <a:xfrm>
            <a:off x="914400" y="4279392"/>
            <a:ext cx="457200" cy="4572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554480" y="4251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Facture automatique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54480" y="4526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par marché × client paramétré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601200" y="4325112"/>
            <a:ext cx="1737360" cy="365760"/>
          </a:xfrm>
          <a:prstGeom prst="rect">
            <a:avLst/>
          </a:prstGeom>
          <a:solidFill>
            <a:srgbClr val="F5F3FF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0" y="43251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instantané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" y="4937760"/>
            <a:ext cx="10881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4937760"/>
            <a:ext cx="91440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0" name="Shape 38"/>
          <p:cNvSpPr/>
          <p:nvPr/>
        </p:nvSpPr>
        <p:spPr>
          <a:xfrm>
            <a:off x="914400" y="5056632"/>
            <a:ext cx="457200" cy="4572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554480" y="5029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Calendrier d'encaissement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55448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Échéance prévue + relances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601200" y="5102352"/>
            <a:ext cx="1737360" cy="365760"/>
          </a:xfrm>
          <a:prstGeom prst="rect">
            <a:avLst/>
          </a:prstGeom>
          <a:solidFill>
            <a:srgbClr val="F5F3FF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1200" y="51023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à 45 j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connecté : un envoi se transforme automatiquement en cash attendu.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BENHALIMA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418320" y="6537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FramPilot · 9/19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463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intelligent : freinte vs écart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Distinguer la perte physique de la marchandise récupérable.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solidFill>
            <a:srgbClr val="F5F3FF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1 000 kg envoyés à la station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35661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651760"/>
            <a:ext cx="356616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249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🗑️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FREINTE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kg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Pertes physiques (déshydratation, abîmé). Détruite — pas de récupération.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2651760"/>
            <a:ext cx="35661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2651760"/>
            <a:ext cx="356616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7249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🤝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30352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480560" y="3474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8%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48056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 kg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hors-1ère cat. Récupérée et VENDUE au client écart sur marché local.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21040" y="2651760"/>
            <a:ext cx="35661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21040" y="2651760"/>
            <a:ext cx="356616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27249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✅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14400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ACCEPTÉE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321040" y="3474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90%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832104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902 kg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9536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1ère catégorie — destinée à l'Export ou marché premium.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6144768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écart paramétrable (un seul actif), avec marché dédié auto-créé. L'écart devient une vraie recette, plus une perte.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BENHALIMA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418320" y="6537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FramPilot · 10/19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463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Bordereaux station par marché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 à chaque flux : hebdo pour l'export, mensuel pour le local.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37360"/>
            <a:ext cx="356616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37360"/>
            <a:ext cx="3566160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</a:rPr>
              <a:t>🌍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82880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HEBDOMADAIRE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2880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· Grande distribution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Carrefour France, Salad 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794760"/>
            <a:ext cx="30175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SET-2027-S21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3434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 → dimanche ISO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FIFO automatique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facture par marché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Échéance 30-45 j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1737360"/>
            <a:ext cx="356616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737360"/>
            <a:ext cx="3566160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</a:rPr>
              <a:t>🏪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566928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6928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Souks · Industrie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Agadir, Industrie tomate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794760"/>
            <a:ext cx="30175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SET-2026-M07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43434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→ fin du mois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 tous les envois du mois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facture cumul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Échéance 7-15 j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21040" y="1737360"/>
            <a:ext cx="356616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21040" y="1737360"/>
            <a:ext cx="3566160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859536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</a:rPr>
              <a:t>💵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950976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BORDEREAU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50976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cash · Marché de gros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9536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9536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Vendeurs ambulants, ventes directes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95360" y="3794760"/>
            <a:ext cx="30175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536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Facture directe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95360" y="43434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appliqué au dispatch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immédiate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regroupement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Encaissement rapide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BENHALIMA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418320" y="6537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FramPilot · 11/19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463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facture par marché — auto-générée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bordereau est validé, les factures sortent avec le bon client.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3840480" cy="4023360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📑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BORDEREAU VALIDÉ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SET-2027-S21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520440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570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Carrefour FR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35570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10 200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4023360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599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Salad 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40599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3 840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4526280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62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 Local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45628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840480"/>
            <a:ext cx="73152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663440" y="3566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1828800"/>
            <a:ext cx="54864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1828800"/>
            <a:ext cx="91440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04088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FB-2027-S21-1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Carrefour France SAS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Échéance : 05/08/2027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87552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10 200 MAD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43600" y="3246120"/>
            <a:ext cx="54864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246120"/>
            <a:ext cx="91440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3520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704088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FB-2027-S21-2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4088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Salad Time Maroc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Échéance : 20/07/2027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87552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3 840 MAD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943600" y="4663440"/>
            <a:ext cx="54864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4663440"/>
            <a:ext cx="91440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4937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7040880" y="4846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FB-2027-S21-3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40880" y="5166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Coopérative Souk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40880" y="5486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Échéance : 07/07/2027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875520" y="5074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MAD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client a son propre échéancier — fini les factures groupées difficiles à expliquer.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BENHALIMA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418320" y="6537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FramPilot · 12/19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-914400"/>
            <a:ext cx="5486400" cy="54864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PILIER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Finance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Réel chaque mois — la marge se pilote, ne se subit pas.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 ·  Compte d'exploitation  ·  Amortissements  ·  Dashboard CEO IA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Réel — mois par mois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la dérive avant qu'elle coûte cher.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3736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736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PRODUITS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5 368 430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 : 5 366 173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+0,04%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0440" y="173736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73736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CHARGES VAR.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0332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284 781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0332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 : 459 999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5780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−38%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73736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173736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CHARGES FIXES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211 097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8368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 : 310 000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3816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−32%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81160" y="173736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81160" y="1737360"/>
            <a:ext cx="274320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946404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AMORTISSEMENTS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6404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46404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 : 100 000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1852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566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Budget vs Réel · Juin 2026 → Mai 2027</a:t>
            </a:r>
            <a:endParaRPr lang="en-US" sz="14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640080" y="3931920"/>
          <a:ext cx="108813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ext 29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BENHALIMA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418320" y="6537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FramPilot · 14/19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d'exploitation multi-niveaux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vue Domaine jusqu'à la serre individuelle — d'un clic.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35661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3566160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</a:rPr>
              <a:t>🌐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82880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consolidée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200400"/>
            <a:ext cx="3017520" cy="411480"/>
          </a:xfrm>
          <a:prstGeom prst="rect">
            <a:avLst/>
          </a:prstGeom>
          <a:solidFill>
            <a:srgbClr val="3B82F6">
              <a:alpha val="1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2186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: Direction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84048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fermes confondues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types de marchés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global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consolidée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1828800"/>
            <a:ext cx="35661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1828800"/>
            <a:ext cx="3566160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011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</a:rPr>
              <a:t>🏡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566928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6928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exploitation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200400"/>
            <a:ext cx="3017520" cy="411480"/>
          </a:xfrm>
          <a:prstGeom prst="rect">
            <a:avLst/>
          </a:prstGeom>
          <a:solidFill>
            <a:srgbClr val="10B981">
              <a:alpha val="1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2186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: Chef de ferme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84048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 Ajana, Ferme Saïs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+ marges propres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Sous-totaux par catégorie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inter-fermes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21040" y="1828800"/>
            <a:ext cx="35661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21040" y="1828800"/>
            <a:ext cx="3566160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0" y="2011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</a:rPr>
              <a:t>🌱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950976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0976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opérationnel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595360" y="3200400"/>
            <a:ext cx="3017520" cy="411480"/>
          </a:xfrm>
          <a:prstGeom prst="rect">
            <a:avLst/>
          </a:prstGeom>
          <a:solidFill>
            <a:srgbClr val="8B5CF6">
              <a:alpha val="1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0" y="32186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: Chef de culture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0" y="384048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serre = 1 micro-CPC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kg/m²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variable serre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nette unité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6309360"/>
            <a:ext cx="10881360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63093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Bonus 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extrapolation auto pour les mois futurs (mois sans réel = budget projeté). Tu vois où tu vas, pas où tu étais.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BENHALIMA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418320" y="6537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FramPilot · 15/19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Amortissements + Dashboard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chiffres calculés tout seuls, les décisions assistées par l'IA.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530352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530352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0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🏗️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AMORTISSEMENTS AUTOMATIQUES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— Serre 06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4754880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08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d'acquisition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49040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1 000 000 MAD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566160"/>
            <a:ext cx="4754880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661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d'amortissement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0" y="3566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ans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023360"/>
            <a:ext cx="4754880" cy="384048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023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Dotation mensuelle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4023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8 333 MAD/mois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480560"/>
            <a:ext cx="4754880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480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campagne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4480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mois (juin 26 → juin 27)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4937760"/>
            <a:ext cx="4754880" cy="384048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937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Amortissement campagne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49040" y="4937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108 333 MAD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5532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 de tableau Excel à maintenir : l'app calcule pour chaque mois de la campagne.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1828800"/>
            <a:ext cx="530352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828800"/>
            <a:ext cx="5303520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1920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🤖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04088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CEO + IA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0" y="2926080"/>
            <a:ext cx="4937760" cy="548640"/>
          </a:xfrm>
          <a:prstGeom prst="rect">
            <a:avLst/>
          </a:prstGeom>
          <a:solidFill>
            <a:srgbClr val="10B981">
              <a:alpha val="1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017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40880" y="2926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brute 25% — dans le budget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0" y="3566160"/>
            <a:ext cx="4937760" cy="548640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657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🟡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40880" y="35661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factures Carrefour en retard 12 j — relancer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0" y="4206240"/>
            <a:ext cx="4937760" cy="548640"/>
          </a:xfrm>
          <a:prstGeom prst="rect">
            <a:avLst/>
          </a:prstGeom>
          <a:solidFill>
            <a:srgbClr val="EF4444">
              <a:alpha val="1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42976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40880" y="4206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Serre 04 : rendement −18% vs cible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0" y="4846320"/>
            <a:ext cx="4937760" cy="548640"/>
          </a:xfrm>
          <a:prstGeom prst="rect">
            <a:avLst/>
          </a:prstGeom>
          <a:solidFill>
            <a:srgbClr val="3B82F6">
              <a:alpha val="1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4937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40880" y="4846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Local Salad Time +8% ce mois → maintenir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0" y="5532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L'IA détecte les écarts et propose les bonnes actions.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BENHALIMA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418320" y="6537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FramPilot · 16/19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retour sur investissement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chiffres qui changent le quotidien du chef station.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37360"/>
            <a:ext cx="356616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37360"/>
            <a:ext cx="35661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−70%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 DE RÉCONCILIATION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8h à 2h par semaine — bordereaux validés en FIFO automatique, plus de calculs manuels.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737360"/>
            <a:ext cx="356616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737360"/>
            <a:ext cx="35661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2860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800" dirty="0"/>
          </a:p>
        </p:txBody>
      </p:sp>
      <p:sp>
        <p:nvSpPr>
          <p:cNvPr id="14" name="Text 12"/>
          <p:cNvSpPr/>
          <p:nvPr/>
        </p:nvSpPr>
        <p:spPr>
          <a:xfrm>
            <a:off x="4754880" y="4297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TRAÇABILITÉ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47548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lot tracé de la récolte à la facture. Aucun kg ne disparaît, aucune ligne sans source.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1737360"/>
            <a:ext cx="356616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1737360"/>
            <a:ext cx="356616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2860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800" dirty="0"/>
          </a:p>
        </p:txBody>
      </p:sp>
      <p:sp>
        <p:nvSpPr>
          <p:cNvPr id="19" name="Text 17"/>
          <p:cNvSpPr/>
          <p:nvPr/>
        </p:nvSpPr>
        <p:spPr>
          <a:xfrm>
            <a:off x="8595360" y="4297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ERREUR DE SAISIE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95360" y="47548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double-saisie Excel. Bot Telegram + Web = même base, source unique.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final : le chef station récupère 6 heures par semaine pour piloter sa station, pas pour faire des additions.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BENHALIMA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18320" y="6537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FramPilot · 17/19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où on est, et là où on 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feuille de route claire — P1 livré, P2-P3 à venir.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37360"/>
            <a:ext cx="5303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7360"/>
            <a:ext cx="91440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— FONDATIONS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901952"/>
            <a:ext cx="1280160" cy="365760"/>
          </a:xfrm>
          <a:prstGeom prst="rect">
            <a:avLst/>
          </a:prstGeom>
          <a:solidFill>
            <a:srgbClr val="10B981">
              <a:alpha val="1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901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LIVRÉ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Multi-fermes, multi-serres, multi-variétés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récolte Web + Telegram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 lot complet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d'exploitation multi-niveaux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5303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737360"/>
            <a:ext cx="91440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STATION &amp; FACTURATION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149840" y="1901952"/>
            <a:ext cx="1280160" cy="365760"/>
          </a:xfrm>
          <a:prstGeom prst="rect">
            <a:avLst/>
          </a:prstGeom>
          <a:solidFill>
            <a:srgbClr val="10B981">
              <a:alpha val="1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0" y="1901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LIVRÉ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2331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freinte/écart + client écart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Bordereaux hebdo/mensuel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Auto-facturation par marché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Telegram multilingue arabe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5303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23360"/>
            <a:ext cx="91440" cy="2103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INTELLIGENCE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4187952"/>
            <a:ext cx="1280160" cy="365760"/>
          </a:xfrm>
          <a:prstGeom prst="rect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187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🚧  EN COURS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4617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CEO IA prédictif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proactives (yield, marge)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prix dynamique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mobiles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023360"/>
            <a:ext cx="5303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4023360"/>
            <a:ext cx="91440" cy="2103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ÉCOSYSTÈME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149840" y="4187952"/>
            <a:ext cx="1280160" cy="365760"/>
          </a:xfrm>
          <a:prstGeom prst="rect">
            <a:avLst/>
          </a:prstGeom>
          <a:solidFill>
            <a:srgbClr val="8B5CF6">
              <a:alpha val="15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49840" y="4187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🔜  ROADMAP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4617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banque (paiements auto)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Carrefour, Salad Time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RH paie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publique tiers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BENHALIMA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418320" y="6537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FramPilot · 18/19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-914400"/>
            <a:ext cx="3657600" cy="36576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PRÊT POUR LA DÉMO 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FramPilot vous attend.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Découvrez l'outil sur 3 canaux : bot Telegram, web app, bordereau imprimable.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4572000"/>
            <a:ext cx="32918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846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💬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103120" y="4846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Telegram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03120" y="5257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terrain mobile — français, arabe, darija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4572000"/>
            <a:ext cx="32918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4846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🖥️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23560" y="4846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23560" y="5257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complet, tous écrans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55280" y="4572000"/>
            <a:ext cx="32918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4846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🖨️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144000" y="4846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Bordereau PDF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0" y="5257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 et impression, signature station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BENHALIMA · Maroc ·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0" y="6217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FramPilot · 19/19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Domaine BENHALIMA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FramPilot — Pilotage Agricole Intelligent</dc:title>
  <dc:subject>PptxGenJS Presentation</dc:subject>
  <dc:creator>FramPilot</dc:creator>
  <cp:lastModifiedBy>FramPilot</cp:lastModifiedBy>
  <cp:revision>1</cp:revision>
  <dcterms:created xsi:type="dcterms:W3CDTF">2026-06-02T11:11:10Z</dcterms:created>
  <dcterms:modified xsi:type="dcterms:W3CDTF">2026-06-02T11:11:10Z</dcterms:modified>
</cp:coreProperties>
</file>